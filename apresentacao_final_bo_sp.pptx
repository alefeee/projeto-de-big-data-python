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C0C0C0"/>
              </a:highligh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ANÁLISE DE BIG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/>
              <a:t>Segurança</a:t>
            </a:r>
            <a:r>
              <a:rPr sz="2000" b="1" i="0" dirty="0"/>
              <a:t> </a:t>
            </a:r>
            <a:r>
              <a:rPr sz="2000" b="1" i="0" dirty="0" err="1"/>
              <a:t>Pública</a:t>
            </a:r>
            <a:r>
              <a:rPr sz="2000" b="1" i="0" dirty="0"/>
              <a:t> de São Paulo — SSP-SP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06040"/>
            <a:ext cx="8686800" cy="36576"/>
          </a:xfrm>
          <a:prstGeom prst="rect">
            <a:avLst/>
          </a:prstGeom>
          <a:solidFill>
            <a:srgbClr val="B0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722339"/>
            <a:ext cx="9601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/>
              <a:t>Boletins</a:t>
            </a:r>
            <a:r>
              <a:rPr sz="1300" b="1" i="0" dirty="0"/>
              <a:t> de </a:t>
            </a:r>
            <a:r>
              <a:rPr sz="1300" b="1" i="0" dirty="0" err="1"/>
              <a:t>Ocorrência</a:t>
            </a:r>
            <a:r>
              <a:rPr sz="1300" b="1" i="0" dirty="0"/>
              <a:t> 2007–2016 de dados reais
</a:t>
            </a:r>
            <a:r>
              <a:rPr sz="1300" b="1" i="0" dirty="0" err="1"/>
              <a:t>Distribuição</a:t>
            </a:r>
            <a:r>
              <a:rPr sz="1300" b="1" i="0" dirty="0"/>
              <a:t> · Outliers · </a:t>
            </a:r>
            <a:r>
              <a:rPr sz="1300" b="1" i="0" dirty="0" err="1"/>
              <a:t>Tendências</a:t>
            </a:r>
            <a:r>
              <a:rPr sz="1300" b="1" i="0" dirty="0"/>
              <a:t> e </a:t>
            </a:r>
            <a:r>
              <a:rPr sz="1300" b="1" i="0" dirty="0" err="1"/>
              <a:t>Correlações</a:t>
            </a:r>
            <a:endParaRPr sz="1300" b="1" i="0" dirty="0"/>
          </a:p>
        </p:txBody>
      </p:sp>
      <p:sp>
        <p:nvSpPr>
          <p:cNvPr id="8" name="Rectangle 7"/>
          <p:cNvSpPr/>
          <p:nvPr/>
        </p:nvSpPr>
        <p:spPr>
          <a:xfrm>
            <a:off x="777240" y="3840480"/>
            <a:ext cx="1920240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9044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Python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3840480"/>
            <a:ext cx="1920240" cy="47548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39044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9" y="3840480"/>
            <a:ext cx="1920240" cy="47548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79" y="39044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matplotlib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599" y="3840480"/>
            <a:ext cx="1920240" cy="47548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599" y="39044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seaborn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3840480"/>
            <a:ext cx="1920240" cy="475488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19" y="39044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029200"/>
            <a:ext cx="10515600" cy="64008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1023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Álefe Vieira de Andrade  ·  Kayky Viana de Andrade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8"/>
                </a:solidFill>
              </a:rPr>
              <a:t>Análise e Desenvolvimento de Sistemas  ·  Estácio  ·  2026</a:t>
            </a:r>
          </a:p>
        </p:txBody>
      </p:sp>
      <p:pic>
        <p:nvPicPr>
          <p:cNvPr id="22" name="Imagem 21" descr="Forma&#10;&#10;Descrição gerada automaticamente">
            <a:extLst>
              <a:ext uri="{FF2B5EF4-FFF2-40B4-BE49-F238E27FC236}">
                <a16:creationId xmlns:a16="http://schemas.microsoft.com/office/drawing/2014/main" id="{D681283E-7D82-0ECA-2B3E-87137AD4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19" y="98185"/>
            <a:ext cx="17830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64008" cy="6858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SOBRE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O que fizemos e por que escolhemos esse 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4389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94960" cy="5486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356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Motivação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51206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B0B8"/>
                </a:solidFill>
              </a:rPr>
              <a:t>A </a:t>
            </a:r>
            <a:r>
              <a:rPr sz="1100" b="0" i="0" dirty="0" err="1">
                <a:solidFill>
                  <a:srgbClr val="B0B0B8"/>
                </a:solidFill>
              </a:rPr>
              <a:t>segurança</a:t>
            </a:r>
            <a:r>
              <a:rPr sz="1100" b="0" i="0" dirty="0">
                <a:solidFill>
                  <a:srgbClr val="B0B0B8"/>
                </a:solidFill>
              </a:rPr>
              <a:t> </a:t>
            </a:r>
            <a:r>
              <a:rPr sz="1100" b="0" i="0" dirty="0" err="1">
                <a:solidFill>
                  <a:srgbClr val="B0B0B8"/>
                </a:solidFill>
              </a:rPr>
              <a:t>pública</a:t>
            </a:r>
            <a:r>
              <a:rPr sz="1100" b="0" i="0" dirty="0">
                <a:solidFill>
                  <a:srgbClr val="B0B0B8"/>
                </a:solidFill>
              </a:rPr>
              <a:t> é um dos </a:t>
            </a:r>
            <a:r>
              <a:rPr sz="1100" b="0" i="0" dirty="0" err="1">
                <a:solidFill>
                  <a:srgbClr val="B0B0B8"/>
                </a:solidFill>
              </a:rPr>
              <a:t>temas</a:t>
            </a:r>
            <a:r>
              <a:rPr sz="1100" b="0" i="0" dirty="0">
                <a:solidFill>
                  <a:srgbClr val="B0B0B8"/>
                </a:solidFill>
              </a:rPr>
              <a:t> </a:t>
            </a:r>
            <a:r>
              <a:rPr sz="1100" b="0" i="0" dirty="0" err="1">
                <a:solidFill>
                  <a:srgbClr val="B0B0B8"/>
                </a:solidFill>
              </a:rPr>
              <a:t>mais</a:t>
            </a:r>
            <a:r>
              <a:rPr sz="1100" b="0" i="0" dirty="0">
                <a:solidFill>
                  <a:srgbClr val="B0B0B8"/>
                </a:solidFill>
              </a:rPr>
              <a:t> </a:t>
            </a:r>
            <a:r>
              <a:rPr sz="1100" b="0" i="0" dirty="0" err="1">
                <a:solidFill>
                  <a:srgbClr val="B0B0B8"/>
                </a:solidFill>
              </a:rPr>
              <a:t>relevantes</a:t>
            </a:r>
            <a:r>
              <a:rPr sz="1100" b="0" i="0" dirty="0">
                <a:solidFill>
                  <a:srgbClr val="B0B0B8"/>
                </a:solidFill>
              </a:rPr>
              <a:t>
do </a:t>
            </a:r>
            <a:r>
              <a:rPr sz="1100" b="0" i="0" dirty="0" err="1">
                <a:solidFill>
                  <a:srgbClr val="B0B0B8"/>
                </a:solidFill>
              </a:rPr>
              <a:t>Brasil</a:t>
            </a:r>
            <a:r>
              <a:rPr sz="1100" b="0" i="0" dirty="0">
                <a:solidFill>
                  <a:srgbClr val="B0B0B8"/>
                </a:solidFill>
              </a:rPr>
              <a:t>. </a:t>
            </a:r>
            <a:r>
              <a:rPr sz="1100" b="0" i="0" dirty="0" err="1">
                <a:solidFill>
                  <a:srgbClr val="B0B0B8"/>
                </a:solidFill>
              </a:rPr>
              <a:t>Vimos</a:t>
            </a:r>
            <a:r>
              <a:rPr sz="1100" b="0" i="0" dirty="0">
                <a:solidFill>
                  <a:srgbClr val="B0B0B8"/>
                </a:solidFill>
              </a:rPr>
              <a:t> a </a:t>
            </a:r>
            <a:r>
              <a:rPr sz="1100" b="0" i="0" dirty="0" err="1">
                <a:solidFill>
                  <a:srgbClr val="B0B0B8"/>
                </a:solidFill>
              </a:rPr>
              <a:t>oportunidade</a:t>
            </a:r>
            <a:r>
              <a:rPr sz="1100" b="0" i="0" dirty="0">
                <a:solidFill>
                  <a:srgbClr val="B0B0B8"/>
                </a:solidFill>
              </a:rPr>
              <a:t> de </a:t>
            </a:r>
            <a:r>
              <a:rPr sz="1100" b="0" i="0" dirty="0" err="1">
                <a:solidFill>
                  <a:srgbClr val="B0B0B8"/>
                </a:solidFill>
              </a:rPr>
              <a:t>aplicar</a:t>
            </a:r>
            <a:r>
              <a:rPr sz="1100" b="0" i="0" dirty="0">
                <a:solidFill>
                  <a:srgbClr val="B0B0B8"/>
                </a:solidFill>
              </a:rPr>
              <a:t> </a:t>
            </a:r>
            <a:r>
              <a:rPr sz="1100" b="0" i="0" dirty="0" err="1">
                <a:solidFill>
                  <a:srgbClr val="B0B0B8"/>
                </a:solidFill>
              </a:rPr>
              <a:t>técnicas</a:t>
            </a:r>
            <a:r>
              <a:rPr sz="1100" b="0" i="0" dirty="0">
                <a:solidFill>
                  <a:srgbClr val="B0B0B8"/>
                </a:solidFill>
              </a:rPr>
              <a:t>
de Big Data </a:t>
            </a:r>
            <a:r>
              <a:rPr sz="1100" b="0" i="0" dirty="0" err="1">
                <a:solidFill>
                  <a:srgbClr val="B0B0B8"/>
                </a:solidFill>
              </a:rPr>
              <a:t>em</a:t>
            </a:r>
            <a:r>
              <a:rPr sz="1100" b="0" i="0" dirty="0">
                <a:solidFill>
                  <a:srgbClr val="B0B0B8"/>
                </a:solidFill>
              </a:rPr>
              <a:t> dados reais da SSP-SP para </a:t>
            </a:r>
            <a:r>
              <a:rPr sz="1100" b="0" i="0" dirty="0" err="1">
                <a:solidFill>
                  <a:srgbClr val="B0B0B8"/>
                </a:solidFill>
              </a:rPr>
              <a:t>entender</a:t>
            </a:r>
            <a:r>
              <a:rPr sz="1100" b="0" i="0" dirty="0">
                <a:solidFill>
                  <a:srgbClr val="B0B0B8"/>
                </a:solidFill>
              </a:rPr>
              <a:t>
</a:t>
            </a:r>
            <a:r>
              <a:rPr sz="1100" b="0" i="0" dirty="0" err="1">
                <a:solidFill>
                  <a:srgbClr val="B0B0B8"/>
                </a:solidFill>
              </a:rPr>
              <a:t>como</a:t>
            </a:r>
            <a:r>
              <a:rPr sz="1100" b="0" i="0" dirty="0">
                <a:solidFill>
                  <a:srgbClr val="B0B0B8"/>
                </a:solidFill>
              </a:rPr>
              <a:t> </a:t>
            </a:r>
            <a:r>
              <a:rPr sz="1100" b="0" i="0" dirty="0" err="1">
                <a:solidFill>
                  <a:srgbClr val="B0B0B8"/>
                </a:solidFill>
              </a:rPr>
              <a:t>os</a:t>
            </a:r>
            <a:r>
              <a:rPr sz="1100" b="0" i="0" dirty="0">
                <a:solidFill>
                  <a:srgbClr val="B0B0B8"/>
                </a:solidFill>
              </a:rPr>
              <a:t> crimes se </a:t>
            </a:r>
            <a:r>
              <a:rPr sz="1100" b="0" i="0" dirty="0" err="1">
                <a:solidFill>
                  <a:srgbClr val="B0B0B8"/>
                </a:solidFill>
              </a:rPr>
              <a:t>distribuem</a:t>
            </a:r>
            <a:r>
              <a:rPr sz="1100" b="0" i="0" dirty="0">
                <a:solidFill>
                  <a:srgbClr val="B0B0B8"/>
                </a:solidFill>
              </a:rPr>
              <a:t> no </a:t>
            </a:r>
            <a:r>
              <a:rPr sz="1100" b="0" i="0" dirty="0" err="1">
                <a:solidFill>
                  <a:srgbClr val="B0B0B8"/>
                </a:solidFill>
              </a:rPr>
              <a:t>estado</a:t>
            </a:r>
            <a:r>
              <a:rPr sz="1100" b="0" i="0" dirty="0">
                <a:solidFill>
                  <a:srgbClr val="B0B0B8"/>
                </a:solidFill>
              </a:rPr>
              <a:t>.
O dataset t</a:t>
            </a:r>
            <a:r>
              <a:rPr lang="pt-BR" sz="1100" dirty="0">
                <a:solidFill>
                  <a:srgbClr val="B0B0B8"/>
                </a:solidFill>
              </a:rPr>
              <a:t>em</a:t>
            </a:r>
            <a:r>
              <a:rPr sz="1100" b="0" i="0" dirty="0">
                <a:solidFill>
                  <a:srgbClr val="B0B0B8"/>
                </a:solidFill>
              </a:rPr>
              <a:t> </a:t>
            </a:r>
            <a:r>
              <a:rPr sz="1100" b="0" i="0" dirty="0" err="1">
                <a:solidFill>
                  <a:srgbClr val="B0B0B8"/>
                </a:solidFill>
              </a:rPr>
              <a:t>boletins</a:t>
            </a:r>
            <a:r>
              <a:rPr sz="1100" b="0" i="0" dirty="0">
                <a:solidFill>
                  <a:srgbClr val="B0B0B8"/>
                </a:solidFill>
              </a:rPr>
              <a:t> de
</a:t>
            </a:r>
            <a:r>
              <a:rPr sz="1100" b="0" i="0" dirty="0" err="1">
                <a:solidFill>
                  <a:srgbClr val="B0B0B8"/>
                </a:solidFill>
              </a:rPr>
              <a:t>ocorrência</a:t>
            </a:r>
            <a:r>
              <a:rPr sz="1100" b="0" i="0" dirty="0">
                <a:solidFill>
                  <a:srgbClr val="B0B0B8"/>
                </a:solidFill>
              </a:rPr>
              <a:t> de 2007 a 2016 — dados </a:t>
            </a:r>
            <a:r>
              <a:rPr sz="1100" b="0" i="0" dirty="0" err="1">
                <a:solidFill>
                  <a:srgbClr val="B0B0B8"/>
                </a:solidFill>
              </a:rPr>
              <a:t>oficiais</a:t>
            </a:r>
            <a:r>
              <a:rPr sz="1100" b="0" i="0" dirty="0">
                <a:solidFill>
                  <a:srgbClr val="B0B0B8"/>
                </a:solidFill>
              </a:rPr>
              <a:t>
da </a:t>
            </a:r>
            <a:r>
              <a:rPr sz="1100" b="0" i="0" dirty="0" err="1">
                <a:solidFill>
                  <a:srgbClr val="B0B0B8"/>
                </a:solidFill>
              </a:rPr>
              <a:t>Secretaria</a:t>
            </a:r>
            <a:r>
              <a:rPr sz="1100" b="0" i="0" dirty="0">
                <a:solidFill>
                  <a:srgbClr val="B0B0B8"/>
                </a:solidFill>
              </a:rPr>
              <a:t> de </a:t>
            </a:r>
            <a:r>
              <a:rPr sz="1100" b="0" i="0" dirty="0" err="1">
                <a:solidFill>
                  <a:srgbClr val="B0B0B8"/>
                </a:solidFill>
              </a:rPr>
              <a:t>Segurança</a:t>
            </a:r>
            <a:r>
              <a:rPr sz="1100" b="0" i="0" dirty="0">
                <a:solidFill>
                  <a:srgbClr val="B0B0B8"/>
                </a:solidFill>
              </a:rPr>
              <a:t> </a:t>
            </a:r>
            <a:r>
              <a:rPr sz="1100" b="0" i="0" dirty="0" err="1">
                <a:solidFill>
                  <a:srgbClr val="B0B0B8"/>
                </a:solidFill>
              </a:rPr>
              <a:t>Pública</a:t>
            </a:r>
            <a:r>
              <a:rPr sz="1100" b="0" i="0" dirty="0">
                <a:solidFill>
                  <a:srgbClr val="B0B0B8"/>
                </a:solidFill>
              </a:rPr>
              <a:t> de SP.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389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94960" cy="54864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356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 que o projeto faz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848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1. Lê todos os CSVs automaticamente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2. Faz limpeza e padronização dos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4553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3. Gera gráficos de distribuição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7588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4. Detecta outliers com 3 métodos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5. Analisa tendências e correlações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36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6. Gera relatório PDF completo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64008" cy="6858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MÓDULO 1 — DISTRIBUIÇÃO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Como os crimes se distribuem no tempo e no espaço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22860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50292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Ocorrências por 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Vimos que os registros cresceram
ao longo dos anos, com pico em
2013–2014 e leve queda em 2015–16.
Indica melhora ou subnotificação.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394960" cy="22860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394960" cy="5029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 10 Crimes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Lesão corporal e furto de veículos
lideram as ocorrências. Crimes como
roubo à instituição financeira são
raros mas de alto impacto.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394960" cy="22860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394960" cy="502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Sazonalidade Mensal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805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Janeiro e dezembro têm mais BOs.
Isso pode estar relacionado às
festas de fim de ano e ao maior
fluxo de pessoas nas ruas.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394960" cy="22860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394960" cy="50292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Cidades com mais BOs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São Paulo capital concentra a
maioria absoluta dos registros.
Outras cidades grandes como
Campinas aparecem em seguida.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0B8"/>
                </a:solidFill>
              </a:rPr>
              <a:t>Gráfico gerado com: matplotlib · seaborn · scipy KDE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64008" cy="6858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MÓDULO 2 — DETECÇÃO DE OUTLIERS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Identificando registros atípicos com 3 métodos diferentes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36576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9144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IQR
(Tukey)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8"/>
                </a:solidFill>
              </a:rPr>
              <a:t>Método clássico.
Flagra valores fora de
Q1−1.5×IQR e Q3+1.5×IQR.
Simples e eficaz.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474720" cy="36576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474720" cy="9144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4356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Z-score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8"/>
                </a:solidFill>
              </a:rPr>
              <a:t>Mede desvios da média.
Flagra |z| &gt; 3.
Funciona melhor com
distribuição normal.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474720" cy="365760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474720" cy="9144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4356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Isolation
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42316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8"/>
                </a:solidFill>
              </a:rPr>
              <a:t>Machine Learning.
Isola pontos anômalos
com árvores aleatórias.
Mais robusto.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11247120" cy="59436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Outlier Score 0–3: somamos os 3 métodos. Registros com score 2 ou 3 foram investigados prioritariamente.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8"/>
                </a:solidFill>
              </a:rPr>
              <a:t>Resultado: ~3% dos registros apresentaram comportamento atípico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64008" cy="68580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MÓDULO 3 — TENDÊNCIAS E CORRELAÇÕES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Evolução dos crimes ao longo de 10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2103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Série Temporal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Plotamos o total de ocorrências mês a mês de 2007 a 2016. Adicionamos uma linha de tendência linear
para ver se os crimes aumentaram ou diminuíram no período. Variações sazonais ficaram visíveis,
com picos no verão (jan/fev) e quedas no inverno (jun/jul).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548640" cy="86868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6732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Tendência geral de crescimento
de 2007 a 2013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48640" cy="8686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3749039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76732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Queda a partir de 2014,
possível melhora policial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548640" cy="86868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937759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95604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SP capital concentra +60%
dos boletins do estado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846320"/>
            <a:ext cx="548640" cy="86868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4937759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95604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Lesão corporal é o crime
mais frequente em todos os anos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64008" cy="6858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DIFICULDADES QUE ENCONTRAMOS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8"/>
                </a:solidFill>
              </a:rPr>
              <a:t>Nem tudo saiu do primeiro jeito — e isso faz parte do aprendizado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2103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081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Ambiente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No começo o pip instalava os pacotes em um Python
e o VS Code usava outro. Levamos um tempo para
entender que precisava usar python -m pip.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394960" cy="2103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394960" cy="47548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081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Tamanho dos arquivos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B0B0B8"/>
                </a:solidFill>
              </a:rPr>
              <a:t>Os</a:t>
            </a:r>
            <a:r>
              <a:rPr sz="1100" b="0" i="0" dirty="0">
                <a:solidFill>
                  <a:srgbClr val="B0B0B8"/>
                </a:solidFill>
              </a:rPr>
              <a:t> CSVs </a:t>
            </a:r>
            <a:r>
              <a:rPr sz="1100" b="0" i="0" dirty="0" err="1">
                <a:solidFill>
                  <a:srgbClr val="B0B0B8"/>
                </a:solidFill>
              </a:rPr>
              <a:t>somam</a:t>
            </a:r>
            <a:r>
              <a:rPr sz="1100" b="0" i="0" dirty="0">
                <a:solidFill>
                  <a:srgbClr val="B0B0B8"/>
                </a:solidFill>
              </a:rPr>
              <a:t> </a:t>
            </a:r>
            <a:r>
              <a:rPr sz="1100" b="0" i="0" dirty="0" err="1">
                <a:solidFill>
                  <a:srgbClr val="B0B0B8"/>
                </a:solidFill>
              </a:rPr>
              <a:t>mais</a:t>
            </a:r>
            <a:r>
              <a:rPr sz="1100" b="0" i="0" dirty="0">
                <a:solidFill>
                  <a:srgbClr val="B0B0B8"/>
                </a:solidFill>
              </a:rPr>
              <a:t> de 500MB</a:t>
            </a:r>
            <a:r>
              <a:rPr lang="pt-BR" sz="1100" dirty="0">
                <a:solidFill>
                  <a:srgbClr val="B0B0B8"/>
                </a:solidFill>
              </a:rPr>
              <a:t>.</a:t>
            </a:r>
            <a:endParaRPr sz="1100" b="0" i="0" dirty="0">
              <a:solidFill>
                <a:srgbClr val="B0B0B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394960" cy="2103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394960" cy="47548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739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Encoding dos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51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Os arquivos da SSP usam encoding latin-1.
Na primeira tentativa vieram caracteres
estranhos até descobrir o parâmetro certo.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394960" cy="21031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394960" cy="475488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739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Indentação do código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51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Ao editar o script manualmente misturamos
tabs e espaços, causando IndentationError.
Resolvemos com 'Convert Indentation to Spaces'.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B8"/>
                </a:solidFill>
              </a:rPr>
              <a:t>Cada erro nos ensinou algo novo sobre Python, ambiente e dados reais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548640" cy="64008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4475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Dataset real e grande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64792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Trabalhamos com +500MB de dados oficiais da SSP-SP, o que deu realismo ao projeto.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76856"/>
            <a:ext cx="548640" cy="6400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0428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módulos de análise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2432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Distribuição, detecção de outliers e tendências cobriram bem o escopo de Big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36391"/>
            <a:ext cx="548640" cy="64008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6382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Aprendizado prático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83863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Resolvemos erros reais de ambiente, encoding e memória — não só código de tutorial.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95928"/>
            <a:ext cx="548640" cy="64008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50791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6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Outliers identificados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43400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Cerca de 3% dos registros foram flagados como atípicos pelos 3 métodos combinados.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55464"/>
            <a:ext cx="548640" cy="640080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910327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828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Tendência identificada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202936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B8"/>
                </a:solidFill>
              </a:rPr>
              <a:t>Os crimes cresceram de 2007 a 2013 e mostraram queda a partir de 2014 em SP.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989320"/>
            <a:ext cx="10789920" cy="59436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6062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8"/>
                </a:solidFill>
              </a:rPr>
              <a:t>Álefe Vieira de Andrade  ·  Kayky Viana de Andrade  ·  ADS — Estácio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782</Words>
  <Application>Microsoft Office PowerPoint</Application>
  <PresentationFormat>Personalizar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Álefe Andrade</cp:lastModifiedBy>
  <cp:revision>2</cp:revision>
  <dcterms:created xsi:type="dcterms:W3CDTF">2013-01-27T09:14:16Z</dcterms:created>
  <dcterms:modified xsi:type="dcterms:W3CDTF">2026-05-27T01:25:43Z</dcterms:modified>
  <cp:category/>
</cp:coreProperties>
</file>